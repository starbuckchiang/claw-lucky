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44529"/>
    <a:srgbClr val="2B3922"/>
    <a:srgbClr val="2E3722"/>
    <a:srgbClr val="FCF7F1"/>
    <a:srgbClr val="B8D233"/>
    <a:srgbClr val="5CC6D6"/>
    <a:srgbClr val="F8D22F"/>
    <a:srgbClr val="F03F2B"/>
    <a:srgbClr val="348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zh-tw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49225C73-1633-42F1-AB3B-7CB183E5F8B8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Nunc viverra imperdiet enim.Fusce est.Vivamus a tellus.</a:t>
          </a:r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1C383F32-22E8-4F62-A3E0-BDC3D5F48992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zh-tw">
              <a:latin typeface="Microsoft JhengHei UI" panose="020B0604030504040204" pitchFamily="34" charset="-120"/>
              <a:ea typeface="Microsoft JhengHei UI" panose="020B0604030504040204" pitchFamily="34" charset="-120"/>
            </a:rPr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en-US">
            <a:latin typeface="Microsoft JhengHei UI" panose="020B0604030504040204" pitchFamily="34" charset="-120"/>
            <a:ea typeface="Microsoft JhengHei UI" panose="020B0604030504040204" pitchFamily="34" charset="-120"/>
          </a:endParaRPr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/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/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/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6949" y="310305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004512" y="697868"/>
          <a:ext cx="1043437" cy="1043437"/>
        </a:xfrm>
        <a:prstGeom prst="rect">
          <a:avLst/>
        </a:prstGeom>
        <a:blipFill>
          <a:blip xmlns:r="http://schemas.openxmlformats.org/officeDocument/2006/relationships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35606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1300" kern="1200" dirty="0">
              <a:latin typeface="Microsoft JhengHei UI" panose="020B0604030504040204" pitchFamily="34" charset="-120"/>
              <a:ea typeface="Microsoft JhengHei UI" panose="020B0604030504040204" pitchFamily="34" charset="-120"/>
            </a:rPr>
            <a:t>Lorem ipsum dolor sit amet, consectetuer adipiscing elit. </a:t>
          </a:r>
        </a:p>
      </dsp:txBody>
      <dsp:txXfrm>
        <a:off x="35606" y="2695306"/>
        <a:ext cx="2981250" cy="720000"/>
      </dsp:txXfrm>
    </dsp:sp>
    <dsp:sp modelId="{BCD8CDD9-0C56-4401-ADB1-8B48DAB2C96F}">
      <dsp:nvSpPr>
        <dsp:cNvPr id="0" name=""/>
        <dsp:cNvSpPr/>
      </dsp:nvSpPr>
      <dsp:spPr>
        <a:xfrm>
          <a:off x="4119918" y="310305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507481" y="697868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538574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13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Nunc viverra imperdiet enim.Fusce est.Vivamus a tellus.</a:t>
          </a:r>
        </a:p>
      </dsp:txBody>
      <dsp:txXfrm>
        <a:off x="3538574" y="2695306"/>
        <a:ext cx="2981250" cy="720000"/>
      </dsp:txXfrm>
    </dsp:sp>
    <dsp:sp modelId="{FF93E135-77D6-48A0-8871-9BC93D705D06}">
      <dsp:nvSpPr>
        <dsp:cNvPr id="0" name=""/>
        <dsp:cNvSpPr/>
      </dsp:nvSpPr>
      <dsp:spPr>
        <a:xfrm>
          <a:off x="7622887" y="310305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8010450" y="697868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7041543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1300" kern="1200">
              <a:latin typeface="Microsoft JhengHei UI" panose="020B0604030504040204" pitchFamily="34" charset="-120"/>
              <a:ea typeface="Microsoft JhengHei UI" panose="020B0604030504040204" pitchFamily="34" charset="-120"/>
            </a:rPr>
            <a:t>Pellentesque habitant morbi tristique senectus et netus.</a:t>
          </a:r>
        </a:p>
      </dsp:txBody>
      <dsp:txXfrm>
        <a:off x="7041543" y="2695306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A7418C-1A37-4630-8C30-B2836F55C532}" type="datetime1">
              <a:rPr lang="zh-TW" altLang="en-US" smtClean="0"/>
              <a:t>2026/7/27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B916EA9-9B8C-4B06-BBDB-07A75F4AF607}" type="datetime1">
              <a:rPr lang="zh-TW" altLang="en-US" smtClean="0"/>
              <a:t>2026/7/27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矩形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直線接點​​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20" name="日期版面配置區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D9EAB54-90A7-4427-8D5D-1517AC1256FE}" type="datetime1">
              <a:rPr lang="zh-TW" altLang="en-US" smtClean="0"/>
              <a:t>2026/7/27</a:t>
            </a:fld>
            <a:endParaRPr lang="en-US" dirty="0"/>
          </a:p>
        </p:txBody>
      </p:sp>
      <p:sp>
        <p:nvSpPr>
          <p:cNvPr id="21" name="頁尾預留位置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22" name="投影片編號預留位置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矩形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矩形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矩形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​​(S)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fld id="{294347CA-4B58-4AEE-8DA6-4E2B096FC96F}" type="datetime1">
              <a:rPr lang="zh-TW" altLang="en-US" smtClean="0"/>
              <a:t>2026/7/27</a:t>
            </a:fld>
            <a:endParaRPr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CCF91B-17D2-4072-B2E9-D16F58DFD8EB}" type="datetime1">
              <a:rPr lang="zh-TW" altLang="en-US" smtClean="0"/>
              <a:t>2026/7/27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51C41F-D9A3-457D-A3FA-0A5DBEF4266B}" type="datetime1">
              <a:rPr lang="zh-TW" altLang="en-US" smtClean="0"/>
              <a:t>2026/7/27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3183BB-2861-4A80-80A6-2C9B82653C78}" type="datetime1">
              <a:rPr lang="zh-TW" altLang="en-US" smtClean="0"/>
              <a:t>2026/7/27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6085DB-A18D-4659-BA29-412FA9C45839}" type="datetime1">
              <a:rPr lang="zh-TW" altLang="en-US" smtClean="0"/>
              <a:t>2026/7/27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453BEA6C-00E9-40EA-A338-3A3492325C3F}" type="datetime1">
              <a:rPr lang="zh-TW" altLang="en-US" smtClean="0"/>
              <a:t>2026/7/27</a:t>
            </a:fld>
            <a:endParaRPr lang="en-US" dirty="0"/>
          </a:p>
        </p:txBody>
      </p:sp>
      <p:sp>
        <p:nvSpPr>
          <p:cNvPr id="9" name="頁尾版面配置區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827CC67-2DD7-42FE-B417-D6036783A853}" type="datetime1">
              <a:rPr lang="zh-TW" altLang="en-US" smtClean="0"/>
              <a:t>2026/7/27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algn="l"/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E064CC-B997-463F-949D-526814740EEF}" type="datetime1">
              <a:rPr lang="zh-TW" altLang="en-US" smtClean="0"/>
              <a:t>2026/7/27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128EAF-448F-42C4-BB03-9B0CC8E0C77B}" type="datetime1">
              <a:rPr lang="zh-TW" altLang="en-US" smtClean="0"/>
              <a:t>2026/7/27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矩形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6C11105-4E24-4682-A6F5-E2BADE4D0872}" type="datetime1">
              <a:rPr lang="zh-TW" altLang="en-US" smtClean="0"/>
              <a:t>2026/7/27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標誌特寫&#10;&#10;自動產生的描述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矩形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2200186"/>
          </a:xfrm>
        </p:spPr>
        <p:txBody>
          <a:bodyPr rtlCol="0">
            <a:normAutofit fontScale="90000"/>
          </a:bodyPr>
          <a:lstStyle/>
          <a:p>
            <a:r>
              <a:rPr lang="zh-TW" altLang="zh-TW" sz="4400" dirty="0"/>
              <a:t>無人店面</a:t>
            </a:r>
            <a:br>
              <a:rPr lang="en-US" altLang="zh-TW" sz="4400" dirty="0"/>
            </a:br>
            <a:r>
              <a:rPr lang="zh-TW" altLang="zh-TW" sz="4400" dirty="0"/>
              <a:t>「壁掛數位看板與互動體驗 SaaS」</a:t>
            </a:r>
            <a:br>
              <a:rPr lang="en-US" altLang="zh-TW" sz="4400" dirty="0"/>
            </a:br>
            <a:br>
              <a:rPr lang="en-US" altLang="zh-TW" sz="4400" dirty="0"/>
            </a:br>
            <a:r>
              <a:rPr lang="zh-TW" altLang="zh-TW" sz="4400" dirty="0"/>
              <a:t>合作提案</a:t>
            </a:r>
            <a:endParaRPr lang="zh-tw" sz="4400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996006F-8C00-A8F1-2473-50EB7116B32A}"/>
              </a:ext>
            </a:extLst>
          </p:cNvPr>
          <p:cNvSpPr txBox="1"/>
          <p:nvPr/>
        </p:nvSpPr>
        <p:spPr>
          <a:xfrm>
            <a:off x="254000" y="5722901"/>
            <a:ext cx="9387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b="1" dirty="0">
                <a:solidFill>
                  <a:srgbClr val="0000FF"/>
                </a:solidFill>
              </a:rPr>
              <a:t>活化死角牆面，為實體空間注入數位靈魂與二次營收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3F8C4CD-110A-8405-2F09-0A1289637B8E}"/>
              </a:ext>
            </a:extLst>
          </p:cNvPr>
          <p:cNvSpPr txBox="1"/>
          <p:nvPr/>
        </p:nvSpPr>
        <p:spPr>
          <a:xfrm>
            <a:off x="802640" y="6198117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500" b="1" dirty="0">
                <a:solidFill>
                  <a:srgbClr val="FFC000"/>
                </a:solidFill>
              </a:rPr>
              <a:t>提案單位：</a:t>
            </a:r>
            <a:r>
              <a:rPr lang="zh-TW" altLang="zh-TW" sz="1500" dirty="0">
                <a:solidFill>
                  <a:srgbClr val="FFC000"/>
                </a:solidFill>
              </a:rPr>
              <a:t> 爪爪好運 (Claw-Lucky Team)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rtlCol="0">
            <a:normAutofit/>
          </a:bodyPr>
          <a:lstStyle/>
          <a:p>
            <a:pPr algn="ctr" rtl="0"/>
            <a:r>
              <a:rPr lang="zh-tw" dirty="0"/>
              <a:t>Title Lorem Ipsum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174868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2FE105-EE5B-CF29-FED2-BEEE530F6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牆面變黃金：無人店面數位體驗與引流系統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2C647C-64ED-0EEE-80A0-7E5F74C78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零坪數占用 × 零庫存負擔 × 創造流量與分潤新藍海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C48AE9-613D-8AA8-551C-638D9D93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4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FE306-3438-D157-43EB-BF5DF2BB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坪效封頂與流量斷頭——無人店面面臨的兩大瓶頸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0A094B-1EA9-BB35-7C38-236B06178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坪效受限：</a:t>
            </a:r>
            <a:r>
              <a:rPr lang="zh-TW" altLang="zh-TW" dirty="0"/>
              <a:t> 機台擺設數量有上限，坪數租金固定，線下營收難以突破天花板。</a:t>
            </a:r>
          </a:p>
          <a:p>
            <a:r>
              <a:rPr lang="zh-TW" altLang="zh-TW" b="1" dirty="0"/>
              <a:t>牆面閒置：</a:t>
            </a:r>
            <a:r>
              <a:rPr lang="zh-TW" altLang="zh-TW" dirty="0"/>
              <a:t> 店內大量牆面僅用來貼警語或靜態海報，無法產生任何商業價值。</a:t>
            </a:r>
          </a:p>
          <a:p>
            <a:r>
              <a:rPr lang="zh-TW" altLang="zh-TW" b="1" dirty="0"/>
              <a:t>流量斷頭：</a:t>
            </a:r>
            <a:r>
              <a:rPr lang="zh-TW" altLang="zh-TW" dirty="0"/>
              <a:t> 客人夾完/買完即走，店家無法取得顧客資料，無法進行二次行銷與留存。</a:t>
            </a:r>
          </a:p>
          <a:p>
            <a:r>
              <a:rPr lang="zh-TW" altLang="zh-TW" b="1" dirty="0"/>
              <a:t>體驗單一：</a:t>
            </a:r>
            <a:r>
              <a:rPr lang="zh-TW" altLang="zh-TW" dirty="0"/>
              <a:t> 缺乏互動與情緒價值，難以在同質化嚴重的選物店中脫穎而出。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B5783D-E6F9-A9C8-A3BB-CA8EEAD1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9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AFE8BC-CC9F-AA5A-EFD5-6B2FA2C90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活化死角空間——打造「動態視覺 ✕ 娛樂互動 ✕ 私域引流」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86243F-4784-21FC-CEF5-E991FC546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輕資產壁掛裝備：</a:t>
            </a:r>
            <a:r>
              <a:rPr lang="zh-TW" altLang="zh-TW" dirty="0"/>
              <a:t> 僅需一面牆與電源，不佔用任何地面機台空間。</a:t>
            </a:r>
          </a:p>
          <a:p>
            <a:r>
              <a:rPr lang="zh-TW" altLang="zh-TW" b="1" dirty="0"/>
              <a:t>動態氛圍與 IP 注入：</a:t>
            </a:r>
            <a:r>
              <a:rPr lang="zh-TW" altLang="zh-TW" dirty="0"/>
              <a:t> 打造專屬「變色龍店長」AI 互動視覺，讓無人店產生有人經營的溫度。</a:t>
            </a:r>
          </a:p>
          <a:p>
            <a:r>
              <a:rPr lang="zh-TW" altLang="zh-TW" b="1" dirty="0"/>
              <a:t>線下到線上 (O2O) 閉環：</a:t>
            </a:r>
            <a:r>
              <a:rPr lang="zh-TW" altLang="zh-TW" dirty="0"/>
              <a:t> 透過「今日好運抽獎」與「限定 AI 桌布下載」，將過路客轉化為線上私域會員。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B6EA1B-05C2-4B2D-F4A3-C29798D63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0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3426D5-35A0-1F05-AF8B-08870E9F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軟硬整合的三大核心模組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DE3128-53D6-DCE1-7F7F-E8388D7C0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內容三</a:t>
            </a:r>
            <a:r>
              <a:rPr lang="zh-TW" altLang="en-US" dirty="0"/>
              <a:t>大</a:t>
            </a:r>
            <a:r>
              <a:rPr lang="zh-TW" altLang="zh-TW" dirty="0"/>
              <a:t>支柱</a:t>
            </a:r>
            <a:endParaRPr lang="en-US" altLang="zh-TW" dirty="0"/>
          </a:p>
          <a:p>
            <a:pPr lvl="1"/>
            <a:r>
              <a:rPr lang="zh-TW" altLang="zh-TW" b="1" dirty="0"/>
              <a:t>動態店招與時空感知（Deterministic Signage）：</a:t>
            </a:r>
            <a:endParaRPr lang="zh-TW" altLang="zh-TW" dirty="0"/>
          </a:p>
          <a:p>
            <a:pPr lvl="2"/>
            <a:r>
              <a:rPr lang="zh-TW" altLang="zh-TW" dirty="0"/>
              <a:t>根據日期、時間、天氣自動切換視覺主題（如：週一加油主題、雨天特別祝福）。</a:t>
            </a:r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zh-TW" altLang="zh-TW" dirty="0"/>
              <a:t>好運連連抽獎與熔斷機制（Gamification &amp; Points）：</a:t>
            </a:r>
            <a:endParaRPr lang="en-US" altLang="zh-TW" dirty="0"/>
          </a:p>
          <a:p>
            <a:pPr lvl="2"/>
            <a:r>
              <a:rPr lang="zh-TW" altLang="zh-TW" dirty="0"/>
              <a:t>掃碼即玩好運盲盒，夾到不喜歡的商品可線上轉換點數/代幣，提升玩樂意願。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zh-TW" dirty="0"/>
              <a:t>私域流量池與數位收藏（Digital Souvenir）：</a:t>
            </a:r>
            <a:endParaRPr lang="en-US" altLang="zh-TW" dirty="0"/>
          </a:p>
          <a:p>
            <a:pPr lvl="2"/>
            <a:r>
              <a:rPr lang="zh-TW" altLang="zh-TW" dirty="0"/>
              <a:t>免費/小額解鎖獨家 AI 好運手機桌布，順理成章完成 LINE 官方帳號/會員綁定。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1F6CDA-3D47-63D3-A02E-52B795EC2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8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2255F-FD47-75EC-EAC0-D17DCE83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雙贏的拆帳與營收成長模型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60512E-05C4-3FBB-F1F1-EAECF3FAA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場主零風險：</a:t>
            </a:r>
            <a:r>
              <a:rPr lang="zh-TW" altLang="zh-TW" dirty="0"/>
              <a:t> 由我們提供設備與軟體技術，場主僅需提供牆面與微量電力。</a:t>
            </a:r>
          </a:p>
          <a:p>
            <a:r>
              <a:rPr lang="zh-TW" altLang="zh-TW" b="1" dirty="0"/>
              <a:t>多元營收來源 (Revenue Streams)：</a:t>
            </a:r>
            <a:endParaRPr lang="zh-TW" altLang="zh-TW" dirty="0"/>
          </a:p>
          <a:p>
            <a:r>
              <a:rPr lang="zh-TW" altLang="zh-TW" b="1" dirty="0"/>
              <a:t>C 端小額娛樂微消費：</a:t>
            </a:r>
            <a:r>
              <a:rPr lang="zh-TW" altLang="zh-TW" dirty="0"/>
              <a:t> 線上好運點數、限定桌布解鎖抽獎。</a:t>
            </a:r>
          </a:p>
          <a:p>
            <a:r>
              <a:rPr lang="zh-TW" altLang="zh-TW" b="1" dirty="0"/>
              <a:t>B 端區域廣告播映：</a:t>
            </a:r>
            <a:r>
              <a:rPr lang="zh-TW" altLang="zh-TW" dirty="0"/>
              <a:t> 協助店面周邊商圈（如鄰近飲料店、便當店）輪播動態廣告。</a:t>
            </a:r>
          </a:p>
          <a:p>
            <a:r>
              <a:rPr lang="zh-TW" altLang="zh-TW" b="1" dirty="0"/>
              <a:t>透明分潤機制：</a:t>
            </a:r>
            <a:r>
              <a:rPr lang="zh-TW" altLang="zh-TW" dirty="0"/>
              <a:t> 經由該牆面 QR Code 產生的所有線上消費與廣告收益，場主享 </a:t>
            </a:r>
            <a:r>
              <a:rPr lang="zh-TW" altLang="zh-TW" b="1" dirty="0"/>
              <a:t>15% – 30%</a:t>
            </a:r>
            <a:r>
              <a:rPr lang="zh-TW" altLang="zh-TW" dirty="0"/>
              <a:t> 淨利分潤。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22FA03-F78A-ADDB-9930-8DBF5D60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0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E7EE1-1091-EA17-D23B-60582227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高坪效、快回本的財務表現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A4A7EC-4555-EDD1-6E3B-A608B537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D3C93855-8FBD-B149-6D27-55C629DD4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780752"/>
              </p:ext>
            </p:extLst>
          </p:nvPr>
        </p:nvGraphicFramePr>
        <p:xfrm>
          <a:off x="1066800" y="2103438"/>
          <a:ext cx="10058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3372003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946435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840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77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553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6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63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65147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BF14632-B602-2040-99F4-D3FA4EDDA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535356"/>
              </p:ext>
            </p:extLst>
          </p:nvPr>
        </p:nvGraphicFramePr>
        <p:xfrm>
          <a:off x="1066800" y="2022475"/>
          <a:ext cx="10099040" cy="3159284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377193835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747989361"/>
                    </a:ext>
                  </a:extLst>
                </a:gridCol>
                <a:gridCol w="3393440">
                  <a:extLst>
                    <a:ext uri="{9D8B030D-6E8A-4147-A177-3AD203B41FA5}">
                      <a16:colId xmlns:a16="http://schemas.microsoft.com/office/drawing/2014/main" val="3874007463"/>
                    </a:ext>
                  </a:extLst>
                </a:gridCol>
              </a:tblGrid>
              <a:tr h="421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項目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估算數值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說明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700920"/>
                  </a:ext>
                </a:extLst>
              </a:tr>
              <a:tr h="421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初始 CAPEX（一次性）</a:t>
                      </a:r>
                      <a:endParaRPr lang="zh-T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NT$ 20,000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商業螢幕、壁掛施工、播放主機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421455"/>
                  </a:ext>
                </a:extLst>
              </a:tr>
              <a:tr h="73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每月 OPEX（固定）</a:t>
                      </a:r>
                      <a:endParaRPr lang="zh-T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NT$ 2,500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牆面租金/電費補貼、網路費、軟體維護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463116"/>
                  </a:ext>
                </a:extLst>
              </a:tr>
              <a:tr h="73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 dirty="0"/>
                        <a:t>預估每月總營收</a:t>
                      </a:r>
                      <a:endParaRPr lang="zh-TW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NT$ 12,000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C 端抽獎/數位商品 + 周邊店家廣告播映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328405"/>
                  </a:ext>
                </a:extLst>
              </a:tr>
              <a:tr h="421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預估每月純利潤</a:t>
                      </a:r>
                      <a:endParaRPr lang="zh-T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NT$ 9,500</a:t>
                      </a:r>
                      <a:endParaRPr lang="zh-T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（營收扣除固定營運成本後）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89262"/>
                  </a:ext>
                </a:extLst>
              </a:tr>
              <a:tr h="421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設備回本週期</a:t>
                      </a:r>
                      <a:endParaRPr lang="zh-T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b="1"/>
                        <a:t>約 2.1 個月</a:t>
                      </a:r>
                      <a:endParaRPr lang="zh-TW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8502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915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252C1D-D13F-00A0-C63D-DCA1E401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穩定、安全、易維護的現代雲端架構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7EED07-F534-C56C-E18C-34DA25D7F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極速雲端架構：</a:t>
            </a:r>
            <a:r>
              <a:rPr lang="zh-TW" altLang="zh-TW" dirty="0"/>
              <a:t> 前端採用 GitHub Pages 靜態運算 + Supabase Realtime 實時資料庫，秒級同步更新。</a:t>
            </a:r>
          </a:p>
          <a:p>
            <a:r>
              <a:rPr lang="zh-TW" altLang="zh-TW" b="1" dirty="0"/>
              <a:t>商業級安全防護 (RLS)：</a:t>
            </a:r>
            <a:r>
              <a:rPr lang="zh-TW" altLang="zh-TW" dirty="0"/>
              <a:t> 嚴格的 Row Level Security，確保玩家點數與交易資料百分之百安全。</a:t>
            </a:r>
          </a:p>
          <a:p>
            <a:r>
              <a:rPr lang="zh-TW" altLang="zh-TW" b="1" dirty="0"/>
              <a:t>斷網防呆機制：</a:t>
            </a:r>
            <a:r>
              <a:rPr lang="zh-TW" altLang="zh-TW" dirty="0"/>
              <a:t> 微型主機具備通電自動開機、網路中斷自動重新連線與快取播映功能，維護成本極低。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A0F70D-EE3D-4749-734D-E13F8798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7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50E8CB-7437-EE7B-AC30-17B6FB4A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從單店牆面到跨場域線上選物生態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268A4C-96FE-DB70-F5E0-8691B2E34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zh-TW" b="1" dirty="0"/>
              <a:t>Phase 1 (現在)：</a:t>
            </a:r>
            <a:r>
              <a:rPr lang="zh-TW" altLang="zh-TW" dirty="0"/>
              <a:t> 牆面看板 PoC 驗證，建立線下引流與 AI 桌布發行流程。</a:t>
            </a:r>
          </a:p>
          <a:p>
            <a:pPr lvl="1"/>
            <a:r>
              <a:rPr lang="zh-TW" altLang="zh-TW" b="1" dirty="0"/>
              <a:t>Phase 2 (近期)：</a:t>
            </a:r>
            <a:r>
              <a:rPr lang="zh-TW" altLang="zh-TW" dirty="0"/>
              <a:t> 串接 Clawee 模式（遠端實體機台操控）與實體機台線上預約/兌換。</a:t>
            </a:r>
          </a:p>
          <a:p>
            <a:pPr lvl="1"/>
            <a:r>
              <a:rPr lang="zh-TW" altLang="zh-TW" b="1" dirty="0"/>
              <a:t>Phase 3 (遠期)：</a:t>
            </a:r>
            <a:r>
              <a:rPr lang="zh-TW" altLang="zh-TW" dirty="0"/>
              <a:t> 打造「線上抽獎 ✕ 線下取貨/換貨」的全台無人選物聯盟網。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B8F10D-6758-85C1-D3FE-20DB025A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5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240642-49A5-D97E-0DF2-8BE37AFC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邀請您成為第一批「牆面變現」的示範門市！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302C31-1606-C23C-34BF-A1D64F433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合作方案（創始期優惠）：</a:t>
            </a:r>
            <a:endParaRPr lang="zh-TW" altLang="zh-TW" dirty="0"/>
          </a:p>
          <a:p>
            <a:r>
              <a:rPr lang="zh-TW" altLang="zh-TW" b="1" dirty="0"/>
              <a:t>前 5 家合作門市：</a:t>
            </a:r>
            <a:r>
              <a:rPr lang="zh-TW" altLang="zh-TW" dirty="0"/>
              <a:t> 免收裝設費，免費獲得一套專屬無人店數位店招設計！</a:t>
            </a:r>
          </a:p>
          <a:p>
            <a:r>
              <a:rPr lang="zh-TW" altLang="zh-TW" b="1" dirty="0"/>
              <a:t>立即啟動 PoC（概念驗證）：</a:t>
            </a:r>
            <a:r>
              <a:rPr lang="zh-TW" altLang="zh-TW" dirty="0"/>
              <a:t> 提供為期 30 天的免費試營運測試，用真實數據說話。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9994BA-E6F2-1AC7-887A-9C0D46CC4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69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3D270A-7BCD-4D42-A45B-C4DFC9B41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專案負責人：[您的名字/團隊名稱]</a:t>
            </a:r>
          </a:p>
          <a:p>
            <a:r>
              <a:rPr lang="zh-TW" altLang="zh-TW" dirty="0"/>
              <a:t>Email / LINE ID：[您的聯絡方式]</a:t>
            </a:r>
          </a:p>
          <a:p>
            <a:r>
              <a:rPr lang="zh-TW" altLang="zh-TW" dirty="0"/>
              <a:t>線上體驗 Demo 網址：starbuckchiang.github.io/claw-lucky/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68E5FF-3958-871B-7384-1D528F99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E847876-3A2B-49FA-B396-40048599C954}" type="datetime1">
              <a:rPr lang="zh-TW" altLang="en-US" smtClean="0"/>
              <a:t>2026/7/27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06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9_TF78438558" id="{B22198C3-BD72-44A2-997F-14D793BFA363}" vid="{07B9720E-645E-4AB5-B14C-E751A8DA5D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{8E0A4854-67D7-43A5-87D8-5F409BAC6D48}TF8a9b5915-b8c7-461e-8cdd-693d48b5e3232b02f0fa_win32-17eded555569</Template>
  <TotalTime>15</TotalTime>
  <Words>989</Words>
  <Application>Microsoft Office PowerPoint</Application>
  <PresentationFormat>寬螢幕</PresentationFormat>
  <Paragraphs>77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Microsoft JhengHei UI</vt:lpstr>
      <vt:lpstr>Calibri</vt:lpstr>
      <vt:lpstr>Century Gothic</vt:lpstr>
      <vt:lpstr>Garamond</vt:lpstr>
      <vt:lpstr>SavonVTI</vt:lpstr>
      <vt:lpstr>無人店面 「壁掛數位看板與互動體驗 SaaS」  合作提案</vt:lpstr>
      <vt:lpstr>Title Lorem Ipsum</vt:lpstr>
      <vt:lpstr>牆面變黃金：無人店面數位體驗與引流系統</vt:lpstr>
      <vt:lpstr>坪效封頂與流量斷頭——無人店面面臨的兩大瓶頸</vt:lpstr>
      <vt:lpstr>活化死角空間——打造「動態視覺 ✕ 娛樂互動 ✕ 私域引流」</vt:lpstr>
      <vt:lpstr>軟硬整合的三大核心模組</vt:lpstr>
      <vt:lpstr>雙贏的拆帳與營收成長模型</vt:lpstr>
      <vt:lpstr>高坪效、快回本的財務表現</vt:lpstr>
      <vt:lpstr>穩定、安全、易維護的現代雲端架構</vt:lpstr>
      <vt:lpstr>從單店牆面到跨場域線上選物生態</vt:lpstr>
      <vt:lpstr>邀請您成為第一批「牆面變現」的示範門市！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sabrina chiang</dc:creator>
  <cp:lastModifiedBy>sabrina chiang</cp:lastModifiedBy>
  <cp:revision>1</cp:revision>
  <dcterms:created xsi:type="dcterms:W3CDTF">2026-07-27T04:26:25Z</dcterms:created>
  <dcterms:modified xsi:type="dcterms:W3CDTF">2026-07-27T04:41:58Z</dcterms:modified>
</cp:coreProperties>
</file>